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8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1000</c:v>
                </c:pt>
                <c:pt idx="1">
                  <c:v>6000</c:v>
                </c:pt>
                <c:pt idx="2">
                  <c:v>1500</c:v>
                </c:pt>
                <c:pt idx="3">
                  <c:v>5500</c:v>
                </c:pt>
                <c:pt idx="4">
                  <c:v>5500</c:v>
                </c:pt>
                <c:pt idx="5">
                  <c:v>6200</c:v>
                </c:pt>
                <c:pt idx="6">
                  <c:v>22500</c:v>
                </c:pt>
                <c:pt idx="7">
                  <c:v>12900</c:v>
                </c:pt>
                <c:pt idx="8">
                  <c:v>14700</c:v>
                </c:pt>
                <c:pt idx="9">
                  <c:v>2800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C4-40BC-8286-75DFEE2EFB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amount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Chennai</c:v>
                </c:pt>
                <c:pt idx="1">
                  <c:v>Mumbai</c:v>
                </c:pt>
                <c:pt idx="2">
                  <c:v>London</c:v>
                </c:pt>
                <c:pt idx="3">
                  <c:v>Torento</c:v>
                </c:pt>
                <c:pt idx="4">
                  <c:v>Bangalore</c:v>
                </c:pt>
                <c:pt idx="5">
                  <c:v>Brisban</c:v>
                </c:pt>
                <c:pt idx="6">
                  <c:v>New York</c:v>
                </c:pt>
                <c:pt idx="7">
                  <c:v>San Jose</c:v>
                </c:pt>
                <c:pt idx="8">
                  <c:v>Hampshair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17000</c:v>
                </c:pt>
                <c:pt idx="1">
                  <c:v>12700</c:v>
                </c:pt>
                <c:pt idx="2">
                  <c:v>12500</c:v>
                </c:pt>
                <c:pt idx="3">
                  <c:v>9500</c:v>
                </c:pt>
                <c:pt idx="4">
                  <c:v>8300</c:v>
                </c:pt>
                <c:pt idx="5">
                  <c:v>7700</c:v>
                </c:pt>
                <c:pt idx="6">
                  <c:v>7500</c:v>
                </c:pt>
                <c:pt idx="7">
                  <c:v>2900</c:v>
                </c:pt>
                <c:pt idx="8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64-45F5-8067-4646EE0AE8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4FE-4AD5-A701-3D51177F17B9}"/>
              </c:ext>
            </c:extLst>
          </c:dPt>
          <c:dPt>
            <c:idx val="1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4FE-4AD5-A701-3D51177F17B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FE-4AD5-A701-3D51177F17B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FE-4AD5-A701-3D51177F17B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Repeat (8)</c:v>
                </c:pt>
                <c:pt idx="1">
                  <c:v>One-time (17)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4FE-4AD5-A701-3D51177F17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customers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Grade 1</c:v>
                </c:pt>
                <c:pt idx="1">
                  <c:v>Grade 2</c:v>
                </c:pt>
                <c:pt idx="2">
                  <c:v>Grade 3</c:v>
                </c:pt>
                <c:pt idx="3">
                  <c:v>Grade 4</c:v>
                </c:pt>
                <c:pt idx="4">
                  <c:v>Grade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40</c:v>
                </c:pt>
                <c:pt idx="2">
                  <c:v>20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74-4933-8C60-A1AA423925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amount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Santakumar</c:v>
                </c:pt>
                <c:pt idx="1">
                  <c:v>Mukesh</c:v>
                </c:pt>
                <c:pt idx="2">
                  <c:v>Ivan</c:v>
                </c:pt>
                <c:pt idx="3">
                  <c:v>Anderson</c:v>
                </c:pt>
                <c:pt idx="4">
                  <c:v>Alford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17000</c:v>
                </c:pt>
                <c:pt idx="1">
                  <c:v>12700</c:v>
                </c:pt>
                <c:pt idx="2">
                  <c:v>9500</c:v>
                </c:pt>
                <c:pt idx="3">
                  <c:v>7700</c:v>
                </c:pt>
                <c:pt idx="4">
                  <c:v>7500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C4-4ED3-9626-DA154601E3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860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ka naam aur kya analyse kiya, ek line mein batao.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mein sales, customers aur agents ka analysis maanga tha. Data 3 tables mein tha.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Analysis se pehle data saaf kiya. A013 jaisi inconsistency ko guess karke nahi badla, flag kiya.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Teen main numbers: 78,600 revenue, 36 orders, 2,183.33 average order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July sabse bada peak hai. Data chhota hai isliye percentage swings bade dikhte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3 cities lagbhag 54 percent revenue dete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Sirf 32 percent customers repeat hain. Tie ki wajah se RANK use kiya.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Mukesh ne sabse zyada orders handle kiye. Commission sirf Anderson aur Alford ki badhi.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Aakhri segment: naya column, function, procedure aur cursor.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cleaning analysis se pehle sabse zaroori kaam tha, ye bolna.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cleaning analysis se pehle sabse zaroori kaam tha, ye bolna.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01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41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Fliipazon Retail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Support Analysis using SQL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trends, customer behaviour and agent performance | MySQL Workbench</a:t>
            </a:r>
          </a:p>
          <a:p>
            <a:pPr marL="0" indent="0">
              <a:buNone/>
            </a:pPr>
            <a:endParaRPr lang="en-US" sz="1600" dirty="0">
              <a:solidFill>
                <a:srgbClr val="D1D5D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rgbClr val="D1D5D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rgbClr val="D1D5D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Ankita Kumari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and dataset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Fliipazon Retail wants insights into sales, customers and agent performance to make better decisions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cleaned the data and answered the business questions using SQL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agents and commission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details, grade, outstanding amount, 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with amount, advance, date, customer and 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074E71C-A897-8B24-048E-01EE64F332AF}"/>
              </a:ext>
            </a:extLst>
          </p:cNvPr>
          <p:cNvSpPr txBox="1"/>
          <p:nvPr/>
        </p:nvSpPr>
        <p:spPr>
          <a:xfrm>
            <a:off x="377190" y="288036"/>
            <a:ext cx="6172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50" dirty="0">
                <a:solidFill>
                  <a:srgbClr val="E8A33D"/>
                </a:solidFill>
                <a:ea typeface="+mn-lt"/>
                <a:cs typeface="+mn-lt"/>
              </a:rPr>
              <a:t>ER diagram</a:t>
            </a:r>
            <a:endParaRPr lang="en-US" sz="13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604012A-CF51-CE09-7443-2095840F88A4}"/>
              </a:ext>
            </a:extLst>
          </p:cNvPr>
          <p:cNvSpPr txBox="1"/>
          <p:nvPr/>
        </p:nvSpPr>
        <p:spPr>
          <a:xfrm>
            <a:off x="377190" y="493776"/>
            <a:ext cx="838733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231942"/>
                </a:solidFill>
                <a:latin typeface="Cambria"/>
                <a:ea typeface="Cambria"/>
              </a:rPr>
              <a:t>DATABASE SCHEMA 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5C91D61B-6929-FA9A-A77D-CFC3C9398357}"/>
              </a:ext>
            </a:extLst>
          </p:cNvPr>
          <p:cNvSpPr/>
          <p:nvPr/>
        </p:nvSpPr>
        <p:spPr>
          <a:xfrm>
            <a:off x="377190" y="1062990"/>
            <a:ext cx="8387334" cy="0"/>
          </a:xfrm>
          <a:prstGeom prst="line">
            <a:avLst/>
          </a:prstGeom>
          <a:noFill/>
          <a:ln w="12700">
            <a:solidFill>
              <a:srgbClr val="E4DFF0"/>
            </a:solidFill>
            <a:prstDash val="solid"/>
          </a:ln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1E6EC3E7-5D30-C32A-AA8A-FECED6F1830B}"/>
              </a:ext>
            </a:extLst>
          </p:cNvPr>
          <p:cNvSpPr txBox="1"/>
          <p:nvPr/>
        </p:nvSpPr>
        <p:spPr>
          <a:xfrm>
            <a:off x="377190" y="4910328"/>
            <a:ext cx="4114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B6580"/>
                </a:solidFill>
                <a:ea typeface="+mn-lt"/>
                <a:cs typeface="+mn-lt"/>
              </a:rPr>
              <a:t>ER diagram </a:t>
            </a:r>
            <a:endParaRPr lang="en-US" sz="135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42687798-EEC1-3048-3D73-274668CBA71F}"/>
              </a:ext>
            </a:extLst>
          </p:cNvPr>
          <p:cNvSpPr txBox="1"/>
          <p:nvPr/>
        </p:nvSpPr>
        <p:spPr>
          <a:xfrm>
            <a:off x="6021324" y="4910328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 |  Data Analysis</a:t>
            </a:r>
            <a:endParaRPr lang="en-US" sz="675" dirty="0"/>
          </a:p>
        </p:txBody>
      </p:sp>
      <p:pic>
        <p:nvPicPr>
          <p:cNvPr id="2" name="image1.png">
            <a:extLst>
              <a:ext uri="{FF2B5EF4-FFF2-40B4-BE49-F238E27FC236}">
                <a16:creationId xmlns:a16="http://schemas.microsoft.com/office/drawing/2014/main" id="{8FA62118-2B38-FF43-F791-BBC169B02C4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20140" y="1470660"/>
            <a:ext cx="6865620" cy="310895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50190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found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Trailing spaces in text 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\r in country and order 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REPLACE(col, CHAR(13), '')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of 25 phone numbers were placeholders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to NULL using REGEXP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primary keys on customer and 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primary keys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A013 missing from agents (2 orders)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and flagged, no assumption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found (by ID and by order details)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KPIs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560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737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78,600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560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737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26480" y="1371600"/>
            <a:ext cx="2560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26480" y="1737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2,183.33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customers | 12 agents | orders from Jan to Oct 2008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trend: monthly revenue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760720" y="118872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peak: 22,500 from 11 orders, about 29% of total revenue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to Jun stayed between 1,000 and 6,200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after August; October has only 2 orders and data ends on 20 Oct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cities by order amount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56692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309360" y="12801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17,000, Mumbai 12,700, London 12,500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cities bring about 54% of total revenue (42,200 of 78,600)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2926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383280" y="1005840"/>
          <a:ext cx="2834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400800" y="109728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32% (8 of 25) are repeat customers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spender: Ramanathan (10,500)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customers in grades 4 and 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Ravindran and Avinash tie at 5,000, so RANK() was used instead of LIMIT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760720" y="118872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agents by total order amount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Mukesh handled the most orders (7)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revision: Anderson 0.13 to 0.26, Alford 0.12 to 0.24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falls in the 750 to 1,000 advance band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14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built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avg_rcv_amt: average receive amount per country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avg_amt(agent_name): average outstanding amount of an agent's customers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cust_detail(grade): all customers of a grade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sp_name(cust_code): comma-separated order numbers of a 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JOINs, CTEs, window functions (RANK, DENSE_RANK, LAG), CASE, functions, stored procedures, cursors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next steps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loyalty or promotional offers to lift the 32% repeat rate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agent coverage in Chennai, Mumbai and London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high-advance collectors (Anderson, Alford) through the revised commission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quality at source: missing agent A013, placeholder phone numbers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churn and product-level analysis once more data is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280454-D818-79A1-54DA-222CACBA5323}"/>
              </a:ext>
            </a:extLst>
          </p:cNvPr>
          <p:cNvSpPr txBox="1"/>
          <p:nvPr/>
        </p:nvSpPr>
        <p:spPr>
          <a:xfrm>
            <a:off x="2247900" y="191262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7995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678</Words>
  <Application>Microsoft Office PowerPoint</Application>
  <PresentationFormat>On-screen Show (16:9)</PresentationFormat>
  <Paragraphs>110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Fliipazon Retail: Sales and Support Analysis using SQL</dc:title>
  <dc:subject>PptxGenJS Presentation</dc:subject>
  <dc:creator>PptxGenJS</dc:creator>
  <cp:lastModifiedBy>ANKITA KUMARI</cp:lastModifiedBy>
  <cp:revision>2</cp:revision>
  <dcterms:created xsi:type="dcterms:W3CDTF">2026-10-21T11:58:16Z</dcterms:created>
  <dcterms:modified xsi:type="dcterms:W3CDTF">2026-10-21T12:21:25Z</dcterms:modified>
</cp:coreProperties>
</file>